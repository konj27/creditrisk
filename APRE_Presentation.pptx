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64" r:id="rId8"/>
    <p:sldId id="265" r:id="rId9"/>
    <p:sldId id="259" r:id="rId10"/>
    <p:sldId id="266" r:id="rId11"/>
    <p:sldId id="260" r:id="rId12"/>
    <p:sldId id="267" r:id="rId13"/>
    <p:sldId id="262" r:id="rId14"/>
    <p:sldId id="268" r:id="rId15"/>
    <p:sldId id="261" r:id="rId16"/>
    <p:sldId id="263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0" userDrawn="1">
          <p15:clr>
            <a:srgbClr val="A4A3A4"/>
          </p15:clr>
        </p15:guide>
        <p15:guide id="2" orient="horz" pos="1272" userDrawn="1">
          <p15:clr>
            <a:srgbClr val="A4A3A4"/>
          </p15:clr>
        </p15:guide>
        <p15:guide id="3" orient="horz" pos="71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3944" userDrawn="1">
          <p15:clr>
            <a:srgbClr val="A4A3A4"/>
          </p15:clr>
        </p15:guide>
        <p15:guide id="6" pos="428" userDrawn="1">
          <p15:clr>
            <a:srgbClr val="A4A3A4"/>
          </p15:clr>
        </p15:guide>
        <p15:guide id="7" pos="7224" userDrawn="1">
          <p15:clr>
            <a:srgbClr val="A4A3A4"/>
          </p15:clr>
        </p15:guide>
        <p15:guide id="8" pos="909" userDrawn="1">
          <p15:clr>
            <a:srgbClr val="A4A3A4"/>
          </p15:clr>
        </p15:guide>
        <p15:guide id="9" pos="3688" userDrawn="1">
          <p15:clr>
            <a:srgbClr val="A4A3A4"/>
          </p15:clr>
        </p15:guide>
        <p15:guide id="10" pos="3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006E"/>
    <a:srgbClr val="4BC8FF"/>
    <a:srgbClr val="9100DC"/>
    <a:srgbClr val="0000DC"/>
    <a:srgbClr val="F01928"/>
    <a:srgbClr val="5AC8AF"/>
    <a:srgbClr val="00287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DD1D3-B9C2-5CB6-3F6A-A2263CCCEBE8}" v="229" dt="2026-01-25T09:58:41.4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07" autoAdjust="0"/>
    <p:restoredTop sz="95768" autoAdjust="0"/>
  </p:normalViewPr>
  <p:slideViewPr>
    <p:cSldViewPr snapToGrid="0">
      <p:cViewPr varScale="1">
        <p:scale>
          <a:sx n="130" d="100"/>
          <a:sy n="130" d="100"/>
        </p:scale>
        <p:origin x="296" y="184"/>
      </p:cViewPr>
      <p:guideLst>
        <p:guide orient="horz" pos="1120"/>
        <p:guide orient="horz" pos="1272"/>
        <p:guide orient="horz" pos="715"/>
        <p:guide orient="horz" pos="3861"/>
        <p:guide orient="horz" pos="3944"/>
        <p:guide pos="428"/>
        <p:guide pos="7224"/>
        <p:guide pos="909"/>
        <p:guide pos="3688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180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34D9CB-1186-4E97-85EF-EEFDD3E78B1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45144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061A6D36-8CFB-40FE-8D60-D205048812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88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altLang="cs-CZ" noProof="0" smtClean="0"/>
              <a:pPr/>
              <a:t>‹#›</a:t>
            </a:fld>
            <a:endParaRPr lang="cs-CZ" altLang="cs-CZ" noProof="0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/>
            </a:lvl1pPr>
          </a:lstStyle>
          <a:p>
            <a:r>
              <a:rPr lang="cs-CZ" dirty="0"/>
              <a:t>Kliknutím vložíte nadpis</a:t>
            </a:r>
            <a:endParaRPr lang="cs-CZ" noProof="0" dirty="0"/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1D911E5E-6197-7848-99A5-8C8627D11E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65999" cy="10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pic>
        <p:nvPicPr>
          <p:cNvPr id="10" name="Obrázek 8">
            <a:extLst>
              <a:ext uri="{FF2B5EF4-FFF2-40B4-BE49-F238E27FC236}">
                <a16:creationId xmlns:a16="http://schemas.microsoft.com/office/drawing/2014/main" id="{E158F8E0-B8BC-CE4E-81A4-565A0D4E7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7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5CA9AC87-D3DE-408C-9471-D419F47483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28BFE967-19E1-9D48-9E4F-81B8750DAB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ABDE9BC5-EE25-44B2-8081-F2B94BAA6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1D440DD4-5185-4C05-8E91-80CB3DC6739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91531ABC-E456-4507-A022-87C2E3C7A2A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pic>
        <p:nvPicPr>
          <p:cNvPr id="12" name="Obrázek 8">
            <a:extLst>
              <a:ext uri="{FF2B5EF4-FFF2-40B4-BE49-F238E27FC236}">
                <a16:creationId xmlns:a16="http://schemas.microsoft.com/office/drawing/2014/main" id="{D19675A5-B462-F046-B410-538D4D8049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 a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16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725" y="1296001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sp>
        <p:nvSpPr>
          <p:cNvPr id="18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pPr lvl="0"/>
            <a:r>
              <a:rPr lang="cs-CZ" dirty="0"/>
              <a:t>Kliknutím vložíte nadpis</a:t>
            </a:r>
            <a:endParaRPr lang="cs-CZ" noProof="0" dirty="0"/>
          </a:p>
        </p:txBody>
      </p:sp>
      <p:sp>
        <p:nvSpPr>
          <p:cNvPr id="21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1278" y="1290515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D7707F6E-62D9-4ACE-A33C-A5E15E5CDF7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11B9D34-B8F8-4804-B959-27E40687C8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  <a:p>
            <a:pPr lvl="1"/>
            <a:r>
              <a:rPr lang="cs-CZ" noProof="0" dirty="0"/>
              <a:t>Druhá úroveň</a:t>
            </a:r>
            <a:endParaRPr lang="en-GB" noProof="0" dirty="0"/>
          </a:p>
          <a:p>
            <a:pPr lvl="2"/>
            <a:r>
              <a:rPr lang="cs-CZ" noProof="0" dirty="0"/>
              <a:t>Třetí úroveň</a:t>
            </a:r>
            <a:endParaRPr lang="en-GB" noProof="0" dirty="0"/>
          </a:p>
        </p:txBody>
      </p:sp>
      <p:pic>
        <p:nvPicPr>
          <p:cNvPr id="12" name="Obrázek 8">
            <a:extLst>
              <a:ext uri="{FF2B5EF4-FFF2-40B4-BE49-F238E27FC236}">
                <a16:creationId xmlns:a16="http://schemas.microsoft.com/office/drawing/2014/main" id="{1CD81FB0-E22C-7E4B-9263-74B744CB27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DF9A9-CF6E-49C8-A8BC-74FDF24B8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Kliknutím vložíte nadpis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1D20B9-1A33-484F-AB08-D95E85A9C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2EACA-93F7-4696-A84F-C07E4801C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altLang="cs-CZ" smtClean="0"/>
              <a:pPr/>
              <a:t>‹#›</a:t>
            </a:fld>
            <a:endParaRPr lang="cs-CZ" altLang="cs-CZ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45EA606A-B012-497D-A062-93B4C5E7BD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735" y="2596845"/>
            <a:ext cx="4125465" cy="3208441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2000"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</p:txBody>
      </p:sp>
      <p:sp>
        <p:nvSpPr>
          <p:cNvPr id="8" name="Zástupný symbol pro obrázek 7">
            <a:extLst>
              <a:ext uri="{FF2B5EF4-FFF2-40B4-BE49-F238E27FC236}">
                <a16:creationId xmlns:a16="http://schemas.microsoft.com/office/drawing/2014/main" id="{55454331-9726-47EA-9406-7071E2CA33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509" y="1665288"/>
            <a:ext cx="6207791" cy="4139998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cs-CZ" dirty="0"/>
              <a:t>Kliknutím na ikonu vložíte obrázek</a:t>
            </a:r>
          </a:p>
        </p:txBody>
      </p:sp>
      <p:sp>
        <p:nvSpPr>
          <p:cNvPr id="11" name="Zástupný symbol pro text 7">
            <a:extLst>
              <a:ext uri="{FF2B5EF4-FFF2-40B4-BE49-F238E27FC236}">
                <a16:creationId xmlns:a16="http://schemas.microsoft.com/office/drawing/2014/main" id="{B0741B4D-1AE5-4AB1-8AD2-5E6FAC7F6F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3F7346AF-CCBB-674B-9377-5275DC502A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 a tři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548D6DE9-EB16-4D0A-9F96-DD69C3E9721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40000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C2D097E9-9E99-4F02-A434-E69D713D0F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999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7E169087-A2FD-4849-9AAC-BD41AA07A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0000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E14CE5FF-FB97-4634-9714-4B5C0FDA38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200" y="4414270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4" name="Zástupný symbol pro text 13">
            <a:extLst>
              <a:ext uri="{FF2B5EF4-FFF2-40B4-BE49-F238E27FC236}">
                <a16:creationId xmlns:a16="http://schemas.microsoft.com/office/drawing/2014/main" id="{DD220DBF-2B26-4E32-826A-79839FF510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AD9E96F9-7F56-4453-A9FC-693AF7E57B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047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88362389-3E8C-4129-819C-75F0F7922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1436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8" name="Zástupný symbol pro obsah 12">
            <a:extLst>
              <a:ext uri="{FF2B5EF4-FFF2-40B4-BE49-F238E27FC236}">
                <a16:creationId xmlns:a16="http://schemas.microsoft.com/office/drawing/2014/main" id="{DE897ACA-C285-471C-BF3F-2886D04C7F9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9999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20" name="Zástupný symbol pro obsah 12">
            <a:extLst>
              <a:ext uri="{FF2B5EF4-FFF2-40B4-BE49-F238E27FC236}">
                <a16:creationId xmlns:a16="http://schemas.microsoft.com/office/drawing/2014/main" id="{9AF93628-9CF3-4CB5-A8C7-735B527D49B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0001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9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sp>
        <p:nvSpPr>
          <p:cNvPr id="21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cs-CZ" dirty="0"/>
              <a:t>Kliknutím vložíte nadpis</a:t>
            </a:r>
          </a:p>
        </p:txBody>
      </p:sp>
      <p:pic>
        <p:nvPicPr>
          <p:cNvPr id="17" name="Obrázek 8">
            <a:extLst>
              <a:ext uri="{FF2B5EF4-FFF2-40B4-BE49-F238E27FC236}">
                <a16:creationId xmlns:a16="http://schemas.microsoft.com/office/drawing/2014/main" id="{83AF39E7-78A0-014F-9BF9-455F42878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1439ED6-907B-45D9-8FCC-98AE21B3C0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</p:spPr>
        <p:txBody>
          <a:bodyPr/>
          <a:lstStyle>
            <a:lvl1pPr marL="72000" indent="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cs-CZ" noProof="0" dirty="0"/>
              <a:t>Kliknutím vložíte text</a:t>
            </a:r>
            <a:endParaRPr lang="en-GB" noProof="0" dirty="0"/>
          </a:p>
        </p:txBody>
      </p:sp>
      <p:pic>
        <p:nvPicPr>
          <p:cNvPr id="6" name="Obrázek 8">
            <a:extLst>
              <a:ext uri="{FF2B5EF4-FFF2-40B4-BE49-F238E27FC236}">
                <a16:creationId xmlns:a16="http://schemas.microsoft.com/office/drawing/2014/main" id="{4ED50877-A589-E54A-923E-DEA9FFB787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6" name="Nadpis 12">
            <a:extLst>
              <a:ext uri="{FF2B5EF4-FFF2-40B4-BE49-F238E27FC236}">
                <a16:creationId xmlns:a16="http://schemas.microsoft.com/office/drawing/2014/main" id="{C80D1D37-E5CA-42AD-BE6B-219FAFB546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cs-CZ" dirty="0"/>
              <a:t>Kliknutím vložíte nadpis</a:t>
            </a:r>
          </a:p>
        </p:txBody>
      </p:sp>
      <p:pic>
        <p:nvPicPr>
          <p:cNvPr id="7" name="Obrázek 8">
            <a:extLst>
              <a:ext uri="{FF2B5EF4-FFF2-40B4-BE49-F238E27FC236}">
                <a16:creationId xmlns:a16="http://schemas.microsoft.com/office/drawing/2014/main" id="{388E85DE-7FDA-B34F-B2FD-ECA615AE5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ky, text -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obsah 12">
            <a:extLst>
              <a:ext uri="{FF2B5EF4-FFF2-40B4-BE49-F238E27FC236}">
                <a16:creationId xmlns:a16="http://schemas.microsoft.com/office/drawing/2014/main" id="{9622FDD6-5C71-4DE9-BFBE-6443A2855E5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19997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cs-CZ" altLang="cs-CZ"/>
              <a:pPr/>
              <a:t>‹#›</a:t>
            </a:fld>
            <a:endParaRPr lang="cs-CZ" altLang="cs-CZ" dirty="0"/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8D903DEB-B441-46DB-8462-2640DC8DB3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99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1" name="Zástupný symbol pro text 13">
            <a:extLst>
              <a:ext uri="{FF2B5EF4-FFF2-40B4-BE49-F238E27FC236}">
                <a16:creationId xmlns:a16="http://schemas.microsoft.com/office/drawing/2014/main" id="{66F1D7B9-D1BE-446E-87CA-6AD81AFA83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4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3" name="Zástupný symbol pro text 5">
            <a:extLst>
              <a:ext uri="{FF2B5EF4-FFF2-40B4-BE49-F238E27FC236}">
                <a16:creationId xmlns:a16="http://schemas.microsoft.com/office/drawing/2014/main" id="{3947EF07-8AF7-4904-8565-F5D81E4282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278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334B9440-7A06-4BF8-9532-C11248171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003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sp>
        <p:nvSpPr>
          <p:cNvPr id="17" name="Zástupný symbol pro obsah 12">
            <a:extLst>
              <a:ext uri="{FF2B5EF4-FFF2-40B4-BE49-F238E27FC236}">
                <a16:creationId xmlns:a16="http://schemas.microsoft.com/office/drawing/2014/main" id="{263AA377-982D-4CA3-B9BD-C61AF652481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51278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cs-CZ" noProof="0" dirty="0"/>
              <a:t>Kliknutím vložíte text</a:t>
            </a:r>
          </a:p>
        </p:txBody>
      </p:sp>
      <p:pic>
        <p:nvPicPr>
          <p:cNvPr id="14" name="Obrázek 8">
            <a:extLst>
              <a:ext uri="{FF2B5EF4-FFF2-40B4-BE49-F238E27FC236}">
                <a16:creationId xmlns:a16="http://schemas.microsoft.com/office/drawing/2014/main" id="{2110830C-1ED0-C54C-8C9B-31DD2E6DD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cs-CZ" altLang="cs-CZ"/>
              <a:pPr/>
              <a:t>‹#›</a:t>
            </a:fld>
            <a:endParaRPr lang="cs-CZ" altLang="cs-CZ" dirty="0"/>
          </a:p>
        </p:txBody>
      </p:sp>
      <p:pic>
        <p:nvPicPr>
          <p:cNvPr id="6" name="Obrázek 8">
            <a:extLst>
              <a:ext uri="{FF2B5EF4-FFF2-40B4-BE49-F238E27FC236}">
                <a16:creationId xmlns:a16="http://schemas.microsoft.com/office/drawing/2014/main" id="{E49E2218-4CCF-BC44-930E-B31D9BFD8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2800" y="6048000"/>
            <a:ext cx="874800" cy="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ozdělovník (alternativní)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altLang="cs-CZ" noProof="0" smtClean="0"/>
              <a:pPr/>
              <a:t>‹#›</a:t>
            </a:fld>
            <a:endParaRPr lang="cs-CZ" altLang="cs-CZ" noProof="0" dirty="0"/>
          </a:p>
        </p:txBody>
      </p:sp>
      <p:sp>
        <p:nvSpPr>
          <p:cNvPr id="11" name="Nadpis 6">
            <a:extLst>
              <a:ext uri="{FF2B5EF4-FFF2-40B4-BE49-F238E27FC236}">
                <a16:creationId xmlns:a16="http://schemas.microsoft.com/office/drawing/2014/main" id="{210CF170-3CE8-4094-B136-F821606CD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rgbClr val="0000DC"/>
                </a:solidFill>
              </a:defRPr>
            </a:lvl1pPr>
          </a:lstStyle>
          <a:p>
            <a:r>
              <a:rPr lang="cs-CZ" dirty="0"/>
              <a:t>Kliknutím vložíte nadpis</a:t>
            </a:r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F805DFF4-9876-466D-A663-D549EEF81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rgbClr val="0000DC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sp>
        <p:nvSpPr>
          <p:cNvPr id="9" name="Zástupný symbol pro obrázek 7">
            <a:extLst>
              <a:ext uri="{FF2B5EF4-FFF2-40B4-BE49-F238E27FC236}">
                <a16:creationId xmlns:a16="http://schemas.microsoft.com/office/drawing/2014/main" id="{80C21443-92BF-4BF1-9C61-FDB664DC79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cs-CZ" dirty="0"/>
              <a:t>Kliknutím na ikonu vložíte obrázek</a:t>
            </a:r>
          </a:p>
        </p:txBody>
      </p:sp>
      <p:sp>
        <p:nvSpPr>
          <p:cNvPr id="7" name="Zástupný symbol pro zápatí 1">
            <a:extLst>
              <a:ext uri="{FF2B5EF4-FFF2-40B4-BE49-F238E27FC236}">
                <a16:creationId xmlns:a16="http://schemas.microsoft.com/office/drawing/2014/main" id="{24438A88-1921-4DF2-9F65-459AAE83D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pic>
        <p:nvPicPr>
          <p:cNvPr id="8" name="Obrázek 8">
            <a:extLst>
              <a:ext uri="{FF2B5EF4-FFF2-40B4-BE49-F238E27FC236}">
                <a16:creationId xmlns:a16="http://schemas.microsoft.com/office/drawing/2014/main" id="{C4F310CA-8F50-D24B-869B-CCDF18753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65999" cy="10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 - inverzní">
    <p:bg>
      <p:bgPr>
        <a:solidFill>
          <a:srgbClr val="B9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E708CC-0C3F-4567-9698-B54C0F35BD31}" type="slidenum">
              <a:rPr lang="cs-CZ" altLang="cs-CZ" smtClean="0"/>
              <a:pPr/>
              <a:t>‹#›</a:t>
            </a:fld>
            <a:endParaRPr lang="cs-CZ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vložíte nadpis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pic>
        <p:nvPicPr>
          <p:cNvPr id="10" name="Obrázek 8">
            <a:extLst>
              <a:ext uri="{FF2B5EF4-FFF2-40B4-BE49-F238E27FC236}">
                <a16:creationId xmlns:a16="http://schemas.microsoft.com/office/drawing/2014/main" id="{1284CA9D-DBC5-7345-82D1-2A135832E0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1" y="414000"/>
            <a:ext cx="1565997" cy="10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ozdělovník (alternativní) 2">
    <p:bg>
      <p:bgPr>
        <a:solidFill>
          <a:srgbClr val="B9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E708CC-0C3F-4567-9698-B54C0F35BD31}" type="slidenum">
              <a:rPr lang="cs-CZ" altLang="cs-CZ" smtClean="0"/>
              <a:pPr/>
              <a:t>‹#›</a:t>
            </a:fld>
            <a:endParaRPr lang="cs-CZ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vložíte nadpis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cs-CZ" noProof="0" dirty="0"/>
              <a:t>Kliknutím vložíte podnadpis</a:t>
            </a:r>
          </a:p>
        </p:txBody>
      </p:sp>
      <p:sp>
        <p:nvSpPr>
          <p:cNvPr id="10" name="Zástupný symbol pro obrázek 7">
            <a:extLst>
              <a:ext uri="{FF2B5EF4-FFF2-40B4-BE49-F238E27FC236}">
                <a16:creationId xmlns:a16="http://schemas.microsoft.com/office/drawing/2014/main" id="{05C2E24A-1A94-4B14-B9BB-CA01DE5DD2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na ikonu vložíte obrázek</a:t>
            </a:r>
          </a:p>
        </p:txBody>
      </p:sp>
      <p:sp>
        <p:nvSpPr>
          <p:cNvPr id="12" name="Zástupný symbol pro zápatí 2">
            <a:extLst>
              <a:ext uri="{FF2B5EF4-FFF2-40B4-BE49-F238E27FC236}">
                <a16:creationId xmlns:a16="http://schemas.microsoft.com/office/drawing/2014/main" id="{CC921DFF-8B97-473C-919A-06F55168B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CCE34841-B995-1F41-AED6-CDCE3B804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1" y="414000"/>
            <a:ext cx="1565997" cy="10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zní s obrázkem">
    <p:bg>
      <p:bgPr>
        <a:solidFill>
          <a:srgbClr val="B9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rázek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8420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na ikonu vložíte obrázek</a:t>
            </a:r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6" y="6048000"/>
            <a:ext cx="874800" cy="592920"/>
          </a:xfrm>
          <a:prstGeom prst="rect">
            <a:avLst/>
          </a:prstGeom>
        </p:spPr>
      </p:pic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46E80635-6C5C-49F3-8F11-AD16586CD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6040795"/>
            <a:ext cx="8555976" cy="510831"/>
          </a:xfrm>
        </p:spPr>
        <p:txBody>
          <a:bodyPr lIns="0" tIns="0" rIns="0" bIns="0" numCol="1" spcCol="324000">
            <a:noAutofit/>
          </a:bodyPr>
          <a:lstStyle>
            <a:lvl1pPr marL="0" marR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sz="1500" b="0">
                <a:solidFill>
                  <a:schemeClr val="bg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 noProof="0" dirty="0"/>
              <a:t>Kliknutím vložíte text</a:t>
            </a:r>
          </a:p>
        </p:txBody>
      </p:sp>
    </p:spTree>
    <p:extLst>
      <p:ext uri="{BB962C8B-B14F-4D97-AF65-F5344CB8AC3E}">
        <p14:creationId xmlns:p14="http://schemas.microsoft.com/office/powerpoint/2010/main" val="196421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ECON slide">
    <p:bg>
      <p:bgPr>
        <a:solidFill>
          <a:srgbClr val="B9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cký objekt 5">
            <a:extLst>
              <a:ext uri="{FF2B5EF4-FFF2-40B4-BE49-F238E27FC236}">
                <a16:creationId xmlns:a16="http://schemas.microsoft.com/office/drawing/2014/main" id="{B05C908F-B8F4-4FC8-A2D7-353661227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6200" y="2012580"/>
            <a:ext cx="4179600" cy="283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C4DCCB8A-E23F-49B6-A0BE-D9E395C4E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56" y="2298933"/>
            <a:ext cx="8725020" cy="2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cs-CZ" altLang="cs-CZ" smtClean="0"/>
              <a:pPr/>
              <a:t>‹#›</a:t>
            </a:fld>
            <a:endParaRPr lang="cs-CZ" altLang="cs-CZ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cs-CZ" dirty="0"/>
              <a:t>Kliknutím vložíte nadpis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cs-CZ" noProof="0" dirty="0"/>
              <a:t>Kliknutím vložíte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85" r:id="rId3"/>
    <p:sldLayoutId id="2147483674" r:id="rId4"/>
    <p:sldLayoutId id="2147483688" r:id="rId5"/>
    <p:sldLayoutId id="2147483698" r:id="rId6"/>
    <p:sldLayoutId id="2147483673" r:id="rId7"/>
    <p:sldLayoutId id="2147483675" r:id="rId8"/>
    <p:sldLayoutId id="2147483695" r:id="rId9"/>
    <p:sldLayoutId id="2147483677" r:id="rId10"/>
    <p:sldLayoutId id="2147483686" r:id="rId11"/>
    <p:sldLayoutId id="2147483697" r:id="rId12"/>
    <p:sldLayoutId id="2147483690" r:id="rId13"/>
    <p:sldLayoutId id="2147483696" r:id="rId14"/>
    <p:sldLayoutId id="2147483694" r:id="rId15"/>
    <p:sldLayoutId id="2147483692" r:id="rId16"/>
    <p:sldLayoutId id="2147483693" r:id="rId17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19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pätu 1">
            <a:extLst>
              <a:ext uri="{FF2B5EF4-FFF2-40B4-BE49-F238E27FC236}">
                <a16:creationId xmlns:a16="http://schemas.microsoft.com/office/drawing/2014/main" id="{A4692E60-FDF9-1E4F-A820-B4DF2F6561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MPE_APRE: </a:t>
            </a:r>
            <a:r>
              <a:rPr lang="cs-CZ" dirty="0" err="1"/>
              <a:t>Applied</a:t>
            </a:r>
            <a:r>
              <a:rPr lang="cs-CZ" dirty="0"/>
              <a:t> </a:t>
            </a:r>
            <a:r>
              <a:rPr lang="cs-CZ" dirty="0" err="1"/>
              <a:t>predictive</a:t>
            </a:r>
            <a:r>
              <a:rPr lang="cs-CZ" dirty="0"/>
              <a:t> modelling in </a:t>
            </a:r>
            <a:r>
              <a:rPr lang="cs-CZ" dirty="0" err="1"/>
              <a:t>credit</a:t>
            </a:r>
            <a:r>
              <a:rPr lang="cs-CZ" dirty="0"/>
              <a:t> risk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9DAF3088-3E4D-9845-B71B-E817345CD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altLang="cs-CZ" noProof="0" smtClean="0"/>
              <a:pPr/>
              <a:t>1</a:t>
            </a:fld>
            <a:endParaRPr lang="cs-CZ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2491EF5B-3067-7546-837B-2D005F3E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 Residential Mortgage PD Scorecard</a:t>
            </a:r>
            <a:endParaRPr lang="cs-CZ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BDA74EBB-06F9-2F42-BBA7-49358111E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Vojtěch Grebeníček, Jan Koňařík</a:t>
            </a:r>
          </a:p>
        </p:txBody>
      </p:sp>
    </p:spTree>
    <p:extLst>
      <p:ext uri="{BB962C8B-B14F-4D97-AF65-F5344CB8AC3E}">
        <p14:creationId xmlns:p14="http://schemas.microsoft.com/office/powerpoint/2010/main" val="326334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69CE23-E535-27D9-88FD-77F73BB27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22360-B7BC-3E06-B01F-EEB10FB234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 smtClean="0"/>
              <a:pPr/>
              <a:t>2</a:t>
            </a:fld>
            <a:endParaRPr lang="cs-CZ" altLang="cs-CZ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D103AC-9857-34F2-2E41-60177FA7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Data Engineering &amp; 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06DEDC-0111-B0AA-C22B-986FF472D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Target definition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Rolling 12-Month Window (Default = 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Exclusion of partial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Sampling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Stratified Random Split (70% Train / 30% Test)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Ensures identical risk distribution for ranking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Feature Engineering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Weight of Evidence (WoE)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Handled missing values/outliers automatically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CZ" sz="2400" dirty="0"/>
          </a:p>
        </p:txBody>
      </p:sp>
    </p:spTree>
    <p:extLst>
      <p:ext uri="{BB962C8B-B14F-4D97-AF65-F5344CB8AC3E}">
        <p14:creationId xmlns:p14="http://schemas.microsoft.com/office/powerpoint/2010/main" val="425705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8D32-52CF-6C02-9C55-A4079468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2084D5-6A0B-E8DB-8E06-CF729E2648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10A536-CFD2-2A93-137C-A45D3896B3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 smtClean="0"/>
              <a:pPr/>
              <a:t>3</a:t>
            </a:fld>
            <a:endParaRPr lang="cs-CZ" altLang="cs-CZ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3A0DFB-76DC-7E3A-C953-7E3A8D4E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Variable Selection &amp; Compliance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D57396-D229-524A-1562-E71034649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Selection Method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Stepwise Logistic Regression (AIC)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Filters Applied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Information Value (IV &gt; 0.02, removed weak predictors)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Correlation (&lt; 0.5, removed redundant features)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Multicollinearity (VIF max 2.05, passes &lt; 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Key risk predictors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FICO Score, Loan-to-Value (LTV), Interest Rate</a:t>
            </a:r>
          </a:p>
        </p:txBody>
      </p:sp>
    </p:spTree>
    <p:extLst>
      <p:ext uri="{BB962C8B-B14F-4D97-AF65-F5344CB8AC3E}">
        <p14:creationId xmlns:p14="http://schemas.microsoft.com/office/powerpoint/2010/main" val="29941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E36B269E-4042-D959-66B3-78FFEB810A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Zápatí prezentace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3C1237C-DBC8-B713-8CE5-D1278A2CD7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/>
              <a:pPr/>
              <a:t>4</a:t>
            </a:fld>
            <a:endParaRPr lang="cs-CZ" alt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86E829BF-F3AF-0388-A529-E33A4BBB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cs typeface="Arial"/>
              </a:rPr>
              <a:t>Correlation</a:t>
            </a:r>
            <a:r>
              <a:rPr lang="cs-CZ" dirty="0">
                <a:cs typeface="Arial"/>
              </a:rPr>
              <a:t> Matrix </a:t>
            </a:r>
            <a:r>
              <a:rPr lang="cs-CZ" dirty="0" err="1">
                <a:cs typeface="Arial"/>
              </a:rPr>
              <a:t>Before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Cleaning</a:t>
            </a:r>
            <a:endParaRPr lang="cs-CZ" dirty="0" err="1"/>
          </a:p>
        </p:txBody>
      </p:sp>
      <p:pic>
        <p:nvPicPr>
          <p:cNvPr id="6" name="Zástupný obsah 5" descr="Obsah obrázku text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7C6827FF-A974-4560-97BB-F3C12FE8F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585" y="1716248"/>
            <a:ext cx="6319520" cy="3708815"/>
          </a:xfrm>
          <a:prstGeom prst="rect">
            <a:avLst/>
          </a:prstGeom>
        </p:spPr>
      </p:pic>
      <p:pic>
        <p:nvPicPr>
          <p:cNvPr id="10" name="Obrázek 9" descr="Obsah obrázku text, snímek obrazovky, diagram, řada/pruh&#10;&#10;Obsah generovaný pomocí AI může být nesprávný.">
            <a:extLst>
              <a:ext uri="{FF2B5EF4-FFF2-40B4-BE49-F238E27FC236}">
                <a16:creationId xmlns:a16="http://schemas.microsoft.com/office/drawing/2014/main" id="{E221D9B8-181C-98FD-61EF-D56F09794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861" y="1866489"/>
            <a:ext cx="5910203" cy="355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2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45FA9E2-188B-188E-F29F-9C7D9A7A72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288B033-FC9D-B22D-C99B-FAFCBFDE37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/>
              <a:pPr/>
              <a:t>5</a:t>
            </a:fld>
            <a:endParaRPr lang="cs-CZ" alt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4938484E-CAD3-D4CB-9C0E-76FDBF4C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Target </a:t>
            </a:r>
            <a:r>
              <a:rPr lang="cs-CZ" dirty="0" err="1">
                <a:cs typeface="Arial"/>
              </a:rPr>
              <a:t>Value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Distribution</a:t>
            </a:r>
            <a:endParaRPr lang="cs-CZ" dirty="0" err="1"/>
          </a:p>
        </p:txBody>
      </p:sp>
      <p:pic>
        <p:nvPicPr>
          <p:cNvPr id="9" name="Zástupný obsah 8" descr="Obsah obrázku text, snímek obrazovky, diagram, Obdélník&#10;&#10;Obsah generovaný pomocí AI může být nesprávný.">
            <a:extLst>
              <a:ext uri="{FF2B5EF4-FFF2-40B4-BE49-F238E27FC236}">
                <a16:creationId xmlns:a16="http://schemas.microsoft.com/office/drawing/2014/main" id="{40F34CCD-F681-E541-20E3-0E56A2CB2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600" y="1973634"/>
            <a:ext cx="6096000" cy="35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64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F24D-A5FD-24C0-2BFF-3F326D6A7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E899D5-FA62-498C-F63B-1B6BC3F162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EECCC7-C90C-F8B2-2A80-554DDB459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 smtClean="0"/>
              <a:pPr/>
              <a:t>6</a:t>
            </a:fld>
            <a:endParaRPr lang="cs-CZ" altLang="cs-CZ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C0FFAA-E6DD-A25B-C794-C7079C8F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Predictive Power (Performance)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071554-8061-6D2B-6BD9-8162DA408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GINI Coefficient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Train GINI 44.42%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Test GINI 44.51%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Performance Gap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-0.09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Good Generalization, No Overfitting</a:t>
            </a:r>
          </a:p>
        </p:txBody>
      </p:sp>
    </p:spTree>
    <p:extLst>
      <p:ext uri="{BB962C8B-B14F-4D97-AF65-F5344CB8AC3E}">
        <p14:creationId xmlns:p14="http://schemas.microsoft.com/office/powerpoint/2010/main" val="249934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051E91BD-3027-297A-7AFE-8906DF937E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96A2848-390C-1B2A-6227-259A794B0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/>
              <a:pPr/>
              <a:t>7</a:t>
            </a:fld>
            <a:endParaRPr lang="cs-CZ" alt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65A5CE8-C4D3-F430-3AAC-E12BBEA8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cs typeface="Arial"/>
              </a:rPr>
              <a:t>Result</a:t>
            </a:r>
            <a:r>
              <a:rPr lang="cs-CZ" dirty="0">
                <a:cs typeface="Arial"/>
              </a:rPr>
              <a:t> ROC </a:t>
            </a:r>
            <a:r>
              <a:rPr lang="cs-CZ" dirty="0" err="1">
                <a:cs typeface="Arial"/>
              </a:rPr>
              <a:t>Curve</a:t>
            </a:r>
            <a:endParaRPr lang="cs-CZ" dirty="0" err="1"/>
          </a:p>
        </p:txBody>
      </p:sp>
      <p:pic>
        <p:nvPicPr>
          <p:cNvPr id="6" name="Zástupný obsah 5" descr="Obsah obrázku text, diagram, Vykreslený graf, řada/pruh&#10;&#10;Obsah generovaný pomocí AI může být nesprávný.">
            <a:extLst>
              <a:ext uri="{FF2B5EF4-FFF2-40B4-BE49-F238E27FC236}">
                <a16:creationId xmlns:a16="http://schemas.microsoft.com/office/drawing/2014/main" id="{94AEC1B2-7095-9DE7-8D8C-2A74032A5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600" y="1973634"/>
            <a:ext cx="6096000" cy="35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9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A614-9BA3-2EF0-FF89-0D3905EF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47B637-CDC4-9C46-2D26-26AEB955AA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4626FA-E1D7-C8F4-E1C6-32DB835DAD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 smtClean="0"/>
              <a:pPr/>
              <a:t>8</a:t>
            </a:fld>
            <a:endParaRPr lang="cs-CZ" altLang="cs-CZ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C25C1D-763D-1BF3-74E5-78F6E55A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Deployment Stability (PSI)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13DDAF-F44C-532E-7667-467A3A236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Validation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Private Sample (Out-of-Sample)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Population Stability Index (PSI)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0.0527 (&lt; 0.10)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Stable/Good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364001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E95A4F53-9C13-4367-32D9-21D1352CD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E6B9A52-676E-1822-ED85-A12E39705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/>
              <a:pPr/>
              <a:t>9</a:t>
            </a:fld>
            <a:endParaRPr lang="cs-CZ" alt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5BB80848-377F-893F-3A50-79DDBD53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PSI </a:t>
            </a:r>
            <a:r>
              <a:rPr lang="cs-CZ" dirty="0" err="1">
                <a:cs typeface="Arial"/>
              </a:rPr>
              <a:t>Deployment</a:t>
            </a:r>
            <a:r>
              <a:rPr lang="cs-CZ" dirty="0">
                <a:cs typeface="Arial"/>
              </a:rPr>
              <a:t> chart</a:t>
            </a:r>
            <a:endParaRPr lang="cs-CZ" dirty="0"/>
          </a:p>
        </p:txBody>
      </p:sp>
      <p:pic>
        <p:nvPicPr>
          <p:cNvPr id="6" name="Zástupný obsah 5" descr="Obsah obrázku text, snímek obrazovky, diagram, Vykreslený graf&#10;&#10;Obsah generovaný pomocí AI může být nesprávný.">
            <a:extLst>
              <a:ext uri="{FF2B5EF4-FFF2-40B4-BE49-F238E27FC236}">
                <a16:creationId xmlns:a16="http://schemas.microsoft.com/office/drawing/2014/main" id="{9FEE8041-8DAA-8C3E-3557-29913F22D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7637" y="1522078"/>
            <a:ext cx="7441259" cy="436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95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E851-1CC3-543A-C969-C59DB152B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C52F1C-666F-EF70-C429-3ED984DD2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BDF86-9E0C-A55A-477A-4FF8FC21FF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 smtClean="0"/>
              <a:pPr/>
              <a:t>10</a:t>
            </a:fld>
            <a:endParaRPr lang="cs-CZ" altLang="cs-CZ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AD12D2-75FD-5A39-A074-F7FD4FE6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Challenger Model (LASSO)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F9F921-CE42-58B3-272D-7145E4FAF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LASSO Regression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Compare Machine Learning and Standard Regression (Stepwise)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sz="3200" b="1" dirty="0"/>
              <a:t>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Stepwise 44.51% GINI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Z" sz="2600" dirty="0"/>
              <a:t>LASSO 44.51% GINI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b="1" dirty="0"/>
              <a:t>Same Model Selection/Performance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02189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39BA648E-0A7D-D02B-4551-0765C087D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/>
              <a:t>Zápatí prezentace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CA5CEB3-84FA-61D2-3FE7-629D770F04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/>
              <a:pPr/>
              <a:t>11</a:t>
            </a:fld>
            <a:endParaRPr lang="cs-CZ" alt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DF85ECBC-686A-98F7-187F-2ECAC3163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cs typeface="Arial"/>
              </a:rPr>
              <a:t>Stepwise</a:t>
            </a:r>
            <a:r>
              <a:rPr lang="cs-CZ" dirty="0">
                <a:cs typeface="Arial"/>
              </a:rPr>
              <a:t> vs LASSO </a:t>
            </a:r>
            <a:r>
              <a:rPr lang="cs-CZ" dirty="0" err="1">
                <a:cs typeface="Arial"/>
              </a:rPr>
              <a:t>Comparison</a:t>
            </a:r>
            <a:endParaRPr lang="cs-CZ" dirty="0" err="1"/>
          </a:p>
        </p:txBody>
      </p:sp>
      <p:pic>
        <p:nvPicPr>
          <p:cNvPr id="6" name="Zástupný obsah 5" descr="Obsah obrázku text, diagram, řada/pruh, Vykreslený graf&#10;&#10;Obsah generovaný pomocí AI může být nesprávný.">
            <a:extLst>
              <a:ext uri="{FF2B5EF4-FFF2-40B4-BE49-F238E27FC236}">
                <a16:creationId xmlns:a16="http://schemas.microsoft.com/office/drawing/2014/main" id="{CC143F6C-2B16-A960-D124-1BAA71674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6526" y="1559708"/>
            <a:ext cx="7290740" cy="428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96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FF15-CAC9-E89A-DABE-F8E95FD3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2DF2F1-060E-211C-74C8-87FE1DB92D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E2FB3-0E20-61DD-34D6-9B2F5B7F87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 smtClean="0"/>
              <a:pPr/>
              <a:t>12</a:t>
            </a:fld>
            <a:endParaRPr lang="cs-CZ" altLang="cs-CZ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83CF8F-2CB7-880E-7CF0-9EC5011D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B12ED1-D642-FC50-8A60-D2F0F3F28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Target 12-Month Window (Default = 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Stratified Random Split (70/30) with WoE Binning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Stepwise Logistic Regression (AIC Selection)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Checks for Correlation and VIF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GINI 44.5% (Strong predictive power)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No Gap between Train/Test (Robust)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PSI 0.05 on Blind Data (Stability)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Z" dirty="0"/>
              <a:t>ML LASSO Same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23320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E7432-DB6E-CF97-D96C-B06FC969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674981-1D35-EF3B-4584-4BA0FEB428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07617-6DBF-7FC0-B1B9-427A24EE7C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altLang="cs-CZ" smtClean="0"/>
              <a:pPr/>
              <a:t>13</a:t>
            </a:fld>
            <a:endParaRPr lang="cs-CZ" altLang="cs-CZ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FE0764-65CF-D401-6320-156B53426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019" y="3310425"/>
            <a:ext cx="2681961" cy="451576"/>
          </a:xfrm>
        </p:spPr>
        <p:txBody>
          <a:bodyPr/>
          <a:lstStyle/>
          <a:p>
            <a:r>
              <a:rPr lang="en-CZ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F7924D-3BB6-F27D-7B0B-79CD01E6D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899333622"/>
      </p:ext>
    </p:extLst>
  </p:cSld>
  <p:clrMapOvr>
    <a:masterClrMapping/>
  </p:clrMapOvr>
</p:sld>
</file>

<file path=ppt/theme/theme1.xml><?xml version="1.0" encoding="utf-8"?>
<a:theme xmlns:a="http://schemas.openxmlformats.org/drawingml/2006/main" name="Prezentace_MU_CZ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econ-prezentace-16-9-cz-v11.potx" id="{45F7C800-E35C-46D5-9C47-511EF4DC35F8}" vid="{F2DE815D-75C9-4501-96BE-FAF7001258DA}"/>
    </a:ext>
  </a:extLst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8BAC94BA468D488F31B2478A655CDC" ma:contentTypeVersion="3" ma:contentTypeDescription="Vytvoří nový dokument" ma:contentTypeScope="" ma:versionID="59df924ff85e56a9d620f22666450dc4">
  <xsd:schema xmlns:xsd="http://www.w3.org/2001/XMLSchema" xmlns:xs="http://www.w3.org/2001/XMLSchema" xmlns:p="http://schemas.microsoft.com/office/2006/metadata/properties" xmlns:ns2="76d5652a-9cd3-465f-98c7-aa8090bd65c7" targetNamespace="http://schemas.microsoft.com/office/2006/metadata/properties" ma:root="true" ma:fieldsID="ebc375423d16e97435ac953b71c835e3" ns2:_="">
    <xsd:import namespace="76d5652a-9cd3-465f-98c7-aa8090bd65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d5652a-9cd3-465f-98c7-aa8090bd6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9BE12D-1FF0-4728-BAAC-DFC1B1DA192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E76D051-344C-43B3-9298-00E7F8F1D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d5652a-9cd3-465f-98c7-aa8090bd65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ACF606-FF5B-41F4-AEDE-FDD6EBD291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Prezentace_MU_CZ</Template>
  <TotalTime>47</TotalTime>
  <Words>279</Words>
  <Application>Microsoft Office PowerPoint</Application>
  <PresentationFormat>Širokoúhlá obrazovka</PresentationFormat>
  <Paragraphs>60</Paragraphs>
  <Slides>13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4" baseType="lpstr">
      <vt:lpstr>Prezentace_MU_CZ</vt:lpstr>
      <vt:lpstr>US Residential Mortgage PD Scorecard</vt:lpstr>
      <vt:lpstr>Data Engineering &amp; Methodology</vt:lpstr>
      <vt:lpstr>Variable Selection &amp; Compliance</vt:lpstr>
      <vt:lpstr>Correlation Matrix Before Cleaning</vt:lpstr>
      <vt:lpstr>Target Value Distribution</vt:lpstr>
      <vt:lpstr>Predictive Power (Performance)</vt:lpstr>
      <vt:lpstr>Result ROC Curve</vt:lpstr>
      <vt:lpstr>Deployment Stability (PSI)</vt:lpstr>
      <vt:lpstr>PSI Deployment chart</vt:lpstr>
      <vt:lpstr>Challenger Model (LASSO)</vt:lpstr>
      <vt:lpstr>Stepwise vs LASSO Comparison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Vojtěch Grebeníček</dc:creator>
  <cp:lastModifiedBy>Vojtěch Grebeníček</cp:lastModifiedBy>
  <cp:revision>106</cp:revision>
  <cp:lastPrinted>1601-01-01T00:00:00Z</cp:lastPrinted>
  <dcterms:created xsi:type="dcterms:W3CDTF">2026-01-22T21:44:42Z</dcterms:created>
  <dcterms:modified xsi:type="dcterms:W3CDTF">2026-01-25T09:59:01Z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0x0101008A8BAC94BA468D488F31B2478A655CDC</vt:lpwstr>
  </property>
</Properties>
</file>